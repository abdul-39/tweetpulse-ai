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-536" y="-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4114800"/>
            <a:ext cx="1828800" cy="1828800"/>
          </a:xfrm>
          <a:prstGeom prst="ellipse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Problem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sentiment from social media data is challenging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216712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214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languages require different analysis approaches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87121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254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(VADER) vs Deep Learning (BERT) trade-offs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357530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295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identify trending topics and hashtag sentiment automatically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427939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2336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 of massive datasets from Twitter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743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Project Objectives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63440" y="804672"/>
            <a:ext cx="10972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51560"/>
            <a:ext cx="4206240" cy="585216"/>
          </a:xfrm>
          <a:prstGeom prst="rect">
            <a:avLst/>
          </a:prstGeom>
          <a:solidFill>
            <a:srgbClr val="EAF4FF"/>
          </a:solidFill>
          <a:ln w="12700">
            <a:solidFill>
              <a:srgbClr val="DAE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14300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10972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Sentiment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13441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+ TextBlob + BERT/RoBERTa analysis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719072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81051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4920" y="17647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language detection across 15+ languages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386584"/>
            <a:ext cx="4206240" cy="585216"/>
          </a:xfrm>
          <a:prstGeom prst="rect">
            <a:avLst/>
          </a:prstGeom>
          <a:solidFill>
            <a:srgbClr val="EAF4FF"/>
          </a:solidFill>
          <a:ln w="12700">
            <a:solidFill>
              <a:srgbClr val="DAE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4780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74920" y="24323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Topic Modeling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2679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hashtag clustering with Gensim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054096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14553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74920" y="30998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Console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33467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15-option real-time analysis interface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721608"/>
            <a:ext cx="4206240" cy="585216"/>
          </a:xfrm>
          <a:prstGeom prst="rect">
            <a:avLst/>
          </a:prstGeom>
          <a:solidFill>
            <a:srgbClr val="EAF4FF"/>
          </a:solidFill>
          <a:ln w="12700">
            <a:solidFill>
              <a:srgbClr val="DAE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813048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🐦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74920" y="37673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API v2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74920" y="40142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tweet fetching with Tweepy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4389120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E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48056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74920" y="4434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Comparison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46817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 deep learning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System Architecture &amp; Data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54480" cy="22860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API v2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Tweepy • 25+ Tweets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Metadata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47088" y="1956816"/>
            <a:ext cx="16459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1874520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868680"/>
            <a:ext cx="1554480" cy="2286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173736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&amp; Mention Removal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→ Text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&amp; Lemmatize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84448" y="1956816"/>
            <a:ext cx="16459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1874520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868680"/>
            <a:ext cx="1554480" cy="2286000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173736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(Rule-based)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(Polarity)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BERT/RoBERTa (DL)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21808" y="1956816"/>
            <a:ext cx="16459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1874520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868680"/>
            <a:ext cx="1554480" cy="2286000"/>
          </a:xfrm>
          <a:prstGeom prst="rect">
            <a:avLst/>
          </a:prstGeom>
          <a:solidFill>
            <a:srgbClr val="03045E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173736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Gensim LDA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Topics Extracted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Scoring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59168" y="1956816"/>
            <a:ext cx="16459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1874520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868680"/>
            <a:ext cx="155448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2376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23760" y="173736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WordCloud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Reports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Technology Stack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74320" y="3749040"/>
            <a:ext cx="2743200" cy="5212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856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0233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 — Core Language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54680" y="3749040"/>
            <a:ext cx="2743200" cy="5212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7856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Tweepy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46120" y="40233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API v2 — Data Collection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35040" y="3749040"/>
            <a:ext cx="2743200" cy="5212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37856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40233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— BERT/RoBERTa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343400"/>
            <a:ext cx="2743200" cy="5212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3799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Gensim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46177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Modeling — Topic Discovery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54680" y="4343400"/>
            <a:ext cx="2743200" cy="5212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6120" y="43799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/ spaCy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46120" y="46177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 — Text Handling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35040" y="4343400"/>
            <a:ext cx="2743200" cy="5212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43799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26480" y="46177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Seaborn, WordCloud — Visualization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Sentiment Analysis: 3-Method Hybrid + Multilingual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2926080"/>
          </a:xfrm>
          <a:prstGeom prst="rect">
            <a:avLst/>
          </a:prstGeom>
          <a:solidFill>
            <a:srgbClr val="E0F4FF"/>
          </a:solidFill>
          <a:ln w="12700">
            <a:solidFill>
              <a:srgbClr val="0096C7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5943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VADER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3192" y="1554480"/>
            <a:ext cx="128016" cy="128016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9961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lexicon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" y="2057400"/>
            <a:ext cx="128016" cy="128016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00253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score (-1 to +1)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" y="2560320"/>
            <a:ext cx="128016" cy="128016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50545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efficient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" y="3063240"/>
            <a:ext cx="128016" cy="128016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00837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social media text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822960"/>
            <a:ext cx="2743200" cy="2926080"/>
          </a:xfrm>
          <a:prstGeom prst="rect">
            <a:avLst/>
          </a:prstGeom>
          <a:solidFill>
            <a:srgbClr val="F8E8F0"/>
          </a:solidFill>
          <a:ln w="12700">
            <a:solidFill>
              <a:srgbClr val="5F0F40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822960"/>
            <a:ext cx="2743200" cy="594360"/>
          </a:xfrm>
          <a:prstGeom prst="rect">
            <a:avLst/>
          </a:prstGeom>
          <a:solidFill>
            <a:srgbClr val="5F0F40"/>
          </a:solidFill>
          <a:ln w="12700">
            <a:solidFill>
              <a:srgbClr val="5F0F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8686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TextBlob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19272" y="1554480"/>
            <a:ext cx="128016" cy="128016"/>
          </a:xfrm>
          <a:prstGeom prst="ellipse">
            <a:avLst/>
          </a:prstGeom>
          <a:solidFill>
            <a:srgbClr val="5F0F40"/>
          </a:solidFill>
          <a:ln w="12700">
            <a:solidFill>
              <a:srgbClr val="5F0F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149961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scoring system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19272" y="2057400"/>
            <a:ext cx="128016" cy="128016"/>
          </a:xfrm>
          <a:prstGeom prst="ellipse">
            <a:avLst/>
          </a:prstGeom>
          <a:solidFill>
            <a:srgbClr val="5F0F40"/>
          </a:solidFill>
          <a:ln w="12700">
            <a:solidFill>
              <a:srgbClr val="5F0F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200253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Subjectivity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9272" y="2560320"/>
            <a:ext cx="128016" cy="128016"/>
          </a:xfrm>
          <a:prstGeom prst="ellipse">
            <a:avLst/>
          </a:prstGeom>
          <a:solidFill>
            <a:srgbClr val="5F0F40"/>
          </a:solidFill>
          <a:ln w="12700">
            <a:solidFill>
              <a:srgbClr val="5F0F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250545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baseline method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9272" y="3063240"/>
            <a:ext cx="128016" cy="128016"/>
          </a:xfrm>
          <a:prstGeom prst="ellipse">
            <a:avLst/>
          </a:prstGeom>
          <a:solidFill>
            <a:srgbClr val="5F0F40"/>
          </a:solidFill>
          <a:ln w="12700">
            <a:solidFill>
              <a:srgbClr val="5F0F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300837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deep learning needed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822960"/>
            <a:ext cx="2743200" cy="292608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822960"/>
            <a:ext cx="2743200" cy="59436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8686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BERT / RoBERTa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45352" y="1554480"/>
            <a:ext cx="128016" cy="128016"/>
          </a:xfrm>
          <a:prstGeom prst="ellipse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149961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Twitter-trained deep model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45352" y="2057400"/>
            <a:ext cx="128016" cy="128016"/>
          </a:xfrm>
          <a:prstGeom prst="ellipse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200253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accuracy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45352" y="2560320"/>
            <a:ext cx="128016" cy="128016"/>
          </a:xfrm>
          <a:prstGeom prst="ellipse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250545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predictions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45352" y="3063240"/>
            <a:ext cx="128016" cy="128016"/>
          </a:xfrm>
          <a:prstGeom prst="ellipse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00837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3822192"/>
            <a:ext cx="86868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86791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Hybrid Strategy:  English tweets → Twitter-trained RoBERTa  |  Non-English → Multilingual BERT (15+ Languages)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28600" y="4617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Languages Supported: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28600" y="4736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English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344168" y="4736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🇪🇸 Spanish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459736" y="4736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French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575304" y="4736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German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90872" y="4736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Hindi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06440" y="4736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🇯🇵 Japanese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22008" y="4736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🇸🇦 Arabic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37576" y="4736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🇮🇹 Italian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Topic Modeling, Hashtag Analysis &amp; Key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2057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LDA Topic Modeling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64008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1615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Dirichlet Allocation — unsupervised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563624"/>
            <a:ext cx="64008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179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5 topics from tweet corpus automatically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65376"/>
            <a:ext cx="64008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1965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Score (C_v) for quality evaluation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67128"/>
            <a:ext cx="64008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1214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training data required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64008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4231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Fitness vs Travel topics cluster separately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777240"/>
            <a:ext cx="4297680" cy="2057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Hashtag Analysis Pipeline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1261872"/>
            <a:ext cx="64008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2161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all hashtags via regex pattern matching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563624"/>
            <a:ext cx="64008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51790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frequency distribution (#tech, #AI, #love)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865376"/>
            <a:ext cx="64008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8196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scoring per hashtag (avg BERT score)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167128"/>
            <a:ext cx="64008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1214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(#awesome) vs Negative (#fail) detection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2468880"/>
            <a:ext cx="64008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4231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WordCloud visualization of trending hashtags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8288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Key Results &amp; Metrics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82880" y="3401568"/>
            <a:ext cx="13716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3474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82880" y="4069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73352" y="3401568"/>
            <a:ext cx="13716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D166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73352" y="3474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673352" y="4069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63824" y="3401568"/>
            <a:ext cx="13716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6D6A0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63824" y="3474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3163824" y="4069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54296" y="3401568"/>
            <a:ext cx="13716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F476F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54296" y="3474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4654296" y="4069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44768" y="3401568"/>
            <a:ext cx="13716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8ECAE6">
                <a:alpha val="7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3474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144768" y="4069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635240" y="3401568"/>
            <a:ext cx="13716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B347">
                <a:alpha val="7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35240" y="3474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7635240" y="4069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206240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612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NLP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990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VADER/TextBlob + Deep Learning BERT combined for best 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206240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1612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94960" y="10515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Processing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3990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languages at scale with automatic detection &amp; routing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057400"/>
            <a:ext cx="4206240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25856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2148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49631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topic discovery — no labeled data required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057400"/>
            <a:ext cx="4206240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25856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94960" y="2148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249631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Twitter data pipeline via Tweepy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154680"/>
            <a:ext cx="4206240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35584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32461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5935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15-option console-based exploration for users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154680"/>
            <a:ext cx="4206240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35584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94960" y="32461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35935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modular, extensible architecture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224528"/>
            <a:ext cx="9144000" cy="914400"/>
          </a:xfrm>
          <a:prstGeom prst="rect">
            <a:avLst/>
          </a:prstGeom>
          <a:solidFill>
            <a:srgbClr val="0077B6">
              <a:alpha val="80000"/>
            </a:srgbClr>
          </a:solidFill>
          <a:ln w="12700">
            <a:solidFill>
              <a:srgbClr val="0077B6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315968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Demo: Dataset → Compare 3 Methods → LDA Topics → Hashtag Wordcloud → Live Custom Tweets → Full Report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82880" y="4736592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🙏  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527</Words>
  <Application>Microsoft Office PowerPoint</Application>
  <PresentationFormat>On-screen Show (16:9)</PresentationFormat>
  <Paragraphs>153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Tweet Sentiment Analyzer</dc:title>
  <dc:subject>PptxGenJS Presentation</dc:subject>
  <dc:creator>PptxGenJS</dc:creator>
  <cp:lastModifiedBy>LCS</cp:lastModifiedBy>
  <cp:revision>2</cp:revision>
  <dcterms:created xsi:type="dcterms:W3CDTF">2026-05-06T13:42:06Z</dcterms:created>
  <dcterms:modified xsi:type="dcterms:W3CDTF">2026-05-08T14:43:49Z</dcterms:modified>
</cp:coreProperties>
</file>